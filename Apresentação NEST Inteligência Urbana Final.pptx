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 ExtraBold"/>
      <p:bold r:id="rId19"/>
      <p:boldItalic r:id="rId20"/>
    </p:embeddedFont>
    <p:embeddedFont>
      <p:font typeface="Plus Jakarta Sans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Inter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58DEB5-B842-4C3A-87BC-6E7EA42AA9B5}">
  <a:tblStyle styleId="{E158DEB5-B842-4C3A-87BC-6E7EA42AA9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Extra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ExtraBold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6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10" Type="http://schemas.openxmlformats.org/officeDocument/2006/relationships/image" Target="../media/image18.png"/><Relationship Id="rId9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48250" y="2449859"/>
            <a:ext cx="2095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Cidade Alerta</a:t>
            </a:r>
            <a:endParaRPr sz="2400"/>
          </a:p>
        </p:txBody>
      </p:sp>
      <p:sp>
        <p:nvSpPr>
          <p:cNvPr id="86" name="Google Shape;86;p13"/>
          <p:cNvSpPr txBox="1"/>
          <p:nvPr/>
        </p:nvSpPr>
        <p:spPr>
          <a:xfrm>
            <a:off x="3500675" y="2811809"/>
            <a:ext cx="5190648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Plataforma </a:t>
            </a:r>
            <a:r>
              <a:rPr b="0" i="0" lang="en-US" sz="4800" u="none" cap="none" strike="noStrike">
                <a:solidFill>
                  <a:srgbClr val="10B98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NEST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79854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Acelerando o tempo de resposta urbana, reduzindo a burocracia e conectando cidadãos diretamente às equipes de manutenção.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5452"/>
            <a:ext cx="5095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114425" y="2417415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Morosidade Crônica: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Canais públicos tradicionais levam semanas para iniciar o atendimento a solicitações simples do cotidiano.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14425" y="3379440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Barreiras Burocráticas: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Processos complexos para registrar problemas fáceis como um poste sem luz ou lixo acumulado.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71575" y="4341465"/>
            <a:ext cx="4686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Opacidade Total: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 reclamante raramente recebe retornos automáticos e transparentes sobre a solução das ocorrências.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4412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4032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365277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Desafios na Zeladoria Urbana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34938" y="1614488"/>
            <a:ext cx="50958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>
            <a:off x="762000" y="3984277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703328" y="4289077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Interesse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762000" y="4603402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Sente-se incomodada com a falta de zeladoria e busca caminhos práticos de melhoria.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3477037" y="2843361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Procura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3535709" y="3157686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Mapeado em "Jornada de Usuario( envio ).pdf", busca alternativas tecnológicas para queixas.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250747" y="4289077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Consideração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6309419" y="4603402"/>
            <a:ext cx="234687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Compara as funcionalidades, velocidade de feedback e confiabilidade da NEST na sua região.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9024457" y="2843361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Uso Ativo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9083129" y="3157686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Realiza o primeiro reporte rápido, recebendo suporte inteligente e acompanhamento direto.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Jornada do Cliente</a:t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1840185" y="390807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613895" y="390807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7387604" y="390807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0161314" y="390807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22115"/>
            <a:ext cx="106680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>
            <a:off x="771525" y="1931640"/>
            <a:ext cx="10648950" cy="36671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19"/>
          <p:cNvGraphicFramePr/>
          <p:nvPr/>
        </p:nvGraphicFramePr>
        <p:xfrm>
          <a:off x="771525" y="193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{E158DEB5-B842-4C3A-87BC-6E7EA42AA9B5}</a:tableStyleId>
              </a:tblPr>
              <a:tblGrid>
                <a:gridCol w="3793025"/>
                <a:gridCol w="4794650"/>
                <a:gridCol w="2061275"/>
              </a:tblGrid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Área Estratégica ("Canvas Modelo_de_Negocio.pdf")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Atributos e Atividades Operacionais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Fator Crítico de Sucesso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Parcerias e Recursos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Empresas privadas de manutenção, servidores em nuvem, equipe de TI e geolocalização.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Robustez tecnológica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Relacionamento e Canais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Atendimento via aplicativo móvel e portal web com notificações em tempo real.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Satisfação do usuário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Estrutura de Custos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Hospedagem e servidores, desenvolvimento contínuo, marketing e equipe de suporte.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Eficiência orçamentária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Fontes de Receita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Contratos de serviços, licenciamento da plataforma e planos corporativos premium.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Sustentabilidade de receita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9"/>
          <p:cNvSpPr/>
          <p:nvPr/>
        </p:nvSpPr>
        <p:spPr>
          <a:xfrm>
            <a:off x="771525" y="3365152"/>
            <a:ext cx="37930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564558" y="3365152"/>
            <a:ext cx="47946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9359205" y="3365152"/>
            <a:ext cx="20612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71525" y="4108102"/>
            <a:ext cx="37930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564558" y="4108102"/>
            <a:ext cx="47946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9359205" y="4108102"/>
            <a:ext cx="20612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71525" y="4851052"/>
            <a:ext cx="379303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64558" y="4851052"/>
            <a:ext cx="47946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9359205" y="4851052"/>
            <a:ext cx="20612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Canvas de Modelo de Negócio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50765"/>
            <a:ext cx="5214937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550765"/>
            <a:ext cx="5214937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84265"/>
            <a:ext cx="5214937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884265"/>
            <a:ext cx="5214937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5653087" y="269364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1047750" y="2741265"/>
            <a:ext cx="49256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Forças ("MATRIZ SWOT - A3 Atualizado.pdf")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1047750" y="3055590"/>
            <a:ext cx="46910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Plataforma inovadora de uso imediato, interface extremamente fluida e grande demanda de cunho social.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11106150" y="269364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500812" y="2741265"/>
            <a:ext cx="49256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Fraquezas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500812" y="3055590"/>
            <a:ext cx="46910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Necessidade crucial de rápida adoção em massa e equipes técnicas inicialmente reduzidas.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605462" y="4027140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047750" y="4074765"/>
            <a:ext cx="49256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Oportunidades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047750" y="4389090"/>
            <a:ext cx="46910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Expansão acelerada para novas cidades e integração direta com planos de incentivo de concessionárias.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1068050" y="402714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500812" y="4074765"/>
            <a:ext cx="49256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Ameaças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500812" y="4389090"/>
            <a:ext cx="46910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Rápida emulação do ecossistema por concorrentes governamentais e desconfiança pública inicial.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Análise Estratégica SWOT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243905"/>
            <a:ext cx="10668000" cy="504259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762000" y="4727227"/>
            <a:ext cx="1066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 base em projeções de ganho de eficiência descritas no arquivo </a:t>
            </a:r>
            <a:r>
              <a:rPr b="1" i="1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Cópia de Simulador_Financeiro_NEST_Impacto.xlsx</a:t>
            </a:r>
            <a:r>
              <a:rPr b="0" i="1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a redução dos fluxos burocráticos impulsiona drasticamente o tempo de solução.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e Eficiência Simulada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762000" y="571500"/>
            <a:ext cx="5400675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Amanhã das Cidades</a:t>
            </a:r>
            <a:endParaRPr/>
          </a:p>
        </p:txBody>
      </p:sp>
      <p:pic>
        <p:nvPicPr>
          <p:cNvPr descr="image.png" id="196" name="Google Shape;1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762000" y="2676673"/>
            <a:ext cx="5400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Monitoramento Contínuo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762000" y="3105298"/>
            <a:ext cx="5143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Ao estruturar dados detalhados de buracos, iluminação e incidentes urbanos, oferecemos inteligência estratégica aos gestores e empresas de zeladoria.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762000" y="3979515"/>
            <a:ext cx="5143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Nossa plataforma otimiza custos operacionais ao agrupar sinistros semelhantes na mesma região, poupando deslocamentos, reduzindo o trânsito e o impacto ambiental.</a:t>
            </a:r>
            <a:endParaRPr/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500" y="41975"/>
            <a:ext cx="59055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55490"/>
            <a:ext cx="33654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255490"/>
            <a:ext cx="33654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55490"/>
            <a:ext cx="33654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55076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1057275" y="3312765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Página Principal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1057275" y="3693765"/>
            <a:ext cx="2774900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Componente `renderHome()` dinâmico, exibindo estatísticas instantâneas de chamados ativos, botões rápidos de ligação para canais de emergência do Estado e abas de parceiros.</a:t>
            </a:r>
            <a:endParaRPr/>
          </a:p>
        </p:txBody>
      </p:sp>
      <p:pic>
        <p:nvPicPr>
          <p:cNvPr descr="image.png" id="213" name="Google Shape;21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8475" y="255076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4708475" y="3312765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Formulário de Reporte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4708475" y="3693765"/>
            <a:ext cx="2774900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Fluxo `renderReport()` equipado com validação de dados, upload de arquivos locais de mídia, contador regressivo de descrição e assistente de captura de coordenadas.</a:t>
            </a:r>
            <a:endParaRPr/>
          </a:p>
        </p:txBody>
      </p:sp>
      <p:pic>
        <p:nvPicPr>
          <p:cNvPr descr="image.png" id="216" name="Google Shape;21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59675" y="255076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359675" y="3312765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Zonas de Diálogo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359675" y="369376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Modais ricos de discussão utilizando `showCommentsModal()`, fornecendo segmentação visual por crachás exclusivos para diferenciar cidadãos (`user-badge`) de prestadores credenciados.</a:t>
            </a:r>
            <a:endParaRPr/>
          </a:p>
        </p:txBody>
      </p:sp>
      <p:pic>
        <p:nvPicPr>
          <p:cNvPr descr="image.png" id="219" name="Google Shape;21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3012" y="270316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60875" y="270316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8738" y="270316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Telas e Componentes Criados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017466"/>
            <a:ext cx="509587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762000" y="3007816"/>
            <a:ext cx="5095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10B98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10%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762000" y="4246066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Taxa Administrativa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334125" y="2236440"/>
            <a:ext cx="53506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Monetização Sistêmica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6334125" y="2455515"/>
            <a:ext cx="5095875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Integrado diretamente à dinâmica de reporte de serviços urbanos do app, cada denúncia elegível para leilão/execução corporativa privada calcula automaticamente a margem de custeio dos desenvolvedores de forma segura e transparente: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6572250" y="4274641"/>
            <a:ext cx="360104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// Divisão matemática executada nas denúncias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10253364" y="4274641"/>
            <a:ext cx="4001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10653563" y="4474666"/>
            <a:ext cx="8006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6572250" y="4674691"/>
            <a:ext cx="4001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9373195" y="4674691"/>
            <a:ext cx="3201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0.10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9853463" y="4674691"/>
            <a:ext cx="4001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Zeladoria e Regras de Valor</a:t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762000" y="1005780"/>
            <a:ext cx="57150" cy="3048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